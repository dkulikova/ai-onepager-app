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9.png"/><Relationship Id="rId12" Type="http://schemas.openxmlformats.org/officeDocument/2006/relationships/image" Target="../media/image-1-12.png"/><Relationship Id="rId13" Type="http://schemas.openxmlformats.org/officeDocument/2006/relationships/image" Target="../media/image-1-12.png"/><Relationship Id="rId14" Type="http://schemas.openxmlformats.org/officeDocument/2006/relationships/image" Target="../media/image-1-12.png"/><Relationship Id="rId15" Type="http://schemas.openxmlformats.org/officeDocument/2006/relationships/image" Target="../media/image-1-12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8.png"/><Relationship Id="rId20" Type="http://schemas.openxmlformats.org/officeDocument/2006/relationships/image" Target="../media/image-1-18.png"/><Relationship Id="rId21" Type="http://schemas.openxmlformats.org/officeDocument/2006/relationships/image" Target="../media/image-1-18.png"/><Relationship Id="rId22" Type="http://schemas.openxmlformats.org/officeDocument/2006/relationships/image" Target="../media/image-1-18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C7D6F2"/>
            </a:solidFill>
            <a:prstDash val="dash"/>
          </a:ln>
        </p:spPr>
      </p:sp>
      <p:pic>
        <p:nvPicPr>
          <p:cNvPr id="3" name="Image 0" descr="/home/claude/deck/icons/building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38912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52728" y="20116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Anthropic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271016" y="66751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One-page company profile  ·  </a:t>
            </a:r>
            <a:pPr indent="0" marL="0">
              <a:buNone/>
            </a:pPr>
            <a:r>
              <a:rPr lang="en-US" sz="1150" b="1" dirty="0">
                <a:solidFill>
                  <a:srgbClr val="1B4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safety &amp; enterprise AI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8076895" y="310896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E6EDF8"/>
          </a:solidFill>
          <a:ln/>
        </p:spPr>
      </p:sp>
      <p:sp>
        <p:nvSpPr>
          <p:cNvPr id="7" name="Text 4"/>
          <p:cNvSpPr/>
          <p:nvPr/>
        </p:nvSpPr>
        <p:spPr>
          <a:xfrm>
            <a:off x="8076895" y="31089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Public Benefit Corp.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10591495" y="201168"/>
            <a:ext cx="777240" cy="777240"/>
          </a:xfrm>
          <a:prstGeom prst="ellipse">
            <a:avLst/>
          </a:prstGeom>
          <a:solidFill>
            <a:srgbClr val="2F6FED"/>
          </a:solidFill>
          <a:ln/>
          <a:effectLst>
            <a:outerShdw sx="100000" sy="100000" kx="0" ky="0" algn="bl" rotWithShape="0" blurRad="76200" dist="25400" dir="5400000">
              <a:srgbClr val="0B2545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0591495" y="201168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0591495" y="71323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411480" y="1078992"/>
            <a:ext cx="3679850" cy="841248"/>
          </a:xfrm>
          <a:prstGeom prst="roundRect">
            <a:avLst>
              <a:gd name="adj" fmla="val 8696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76072" y="1225296"/>
            <a:ext cx="384048" cy="384048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13" name="Image 1" descr="/home/claude/deck/icons/compa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765" y="1328989"/>
            <a:ext cx="176662" cy="17666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51560" y="1225296"/>
            <a:ext cx="290261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/ positioning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76072" y="1572768"/>
            <a:ext cx="33506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80" dirty="0">
                <a:solidFill>
                  <a:srgbClr val="B9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reliable, interpretable and steerable AI systems that people can rely on.</a:t>
            </a:r>
            <a:endParaRPr lang="en-US" sz="880" dirty="0"/>
          </a:p>
        </p:txBody>
      </p:sp>
      <p:sp>
        <p:nvSpPr>
          <p:cNvPr id="16" name="Shape 12"/>
          <p:cNvSpPr/>
          <p:nvPr/>
        </p:nvSpPr>
        <p:spPr>
          <a:xfrm>
            <a:off x="4255922" y="1078992"/>
            <a:ext cx="3679850" cy="841248"/>
          </a:xfrm>
          <a:prstGeom prst="roundRect">
            <a:avLst>
              <a:gd name="adj" fmla="val 8696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420514" y="1225296"/>
            <a:ext cx="384048" cy="384048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18" name="Image 2" descr="/home/claude/deck/icons/trend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4207" y="1328989"/>
            <a:ext cx="176662" cy="17666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896002" y="1225296"/>
            <a:ext cx="290261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direction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420514" y="1572768"/>
            <a:ext cx="33506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80" dirty="0">
                <a:solidFill>
                  <a:srgbClr val="B9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demand for Claude, international office expansion and product growth indicate a scaling commercial and research organisation.</a:t>
            </a:r>
            <a:endParaRPr lang="en-US" sz="880" dirty="0"/>
          </a:p>
        </p:txBody>
      </p:sp>
      <p:sp>
        <p:nvSpPr>
          <p:cNvPr id="21" name="Shape 16"/>
          <p:cNvSpPr/>
          <p:nvPr/>
        </p:nvSpPr>
        <p:spPr>
          <a:xfrm>
            <a:off x="8100365" y="1078992"/>
            <a:ext cx="3679850" cy="841248"/>
          </a:xfrm>
          <a:prstGeom prst="roundRect">
            <a:avLst>
              <a:gd name="adj" fmla="val 8696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264957" y="1225296"/>
            <a:ext cx="384048" cy="384048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23" name="Image 3" descr="/home/claude/deck/icons/crosshai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8650" y="1328989"/>
            <a:ext cx="176662" cy="17666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740445" y="1225296"/>
            <a:ext cx="290261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market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8264957" y="1572768"/>
            <a:ext cx="33506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80" dirty="0">
                <a:solidFill>
                  <a:srgbClr val="B9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Enterprises, developers, regulated organisations, researchers and teams seeking reliable AI assistants and agents.</a:t>
            </a:r>
            <a:endParaRPr lang="en-US" sz="880" dirty="0"/>
          </a:p>
        </p:txBody>
      </p:sp>
      <p:sp>
        <p:nvSpPr>
          <p:cNvPr id="26" name="Shape 20"/>
          <p:cNvSpPr/>
          <p:nvPr/>
        </p:nvSpPr>
        <p:spPr>
          <a:xfrm>
            <a:off x="411480" y="2029968"/>
            <a:ext cx="2331720" cy="3785616"/>
          </a:xfrm>
          <a:prstGeom prst="roundRect">
            <a:avLst>
              <a:gd name="adj" fmla="val 3137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pic>
        <p:nvPicPr>
          <p:cNvPr id="27" name="Image 4" descr="/home/claude/deck/icons/mapmark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208276"/>
            <a:ext cx="128016" cy="12801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95528" y="21488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8A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</a:t>
            </a:r>
            <a:endParaRPr lang="en-US" sz="750" dirty="0"/>
          </a:p>
        </p:txBody>
      </p:sp>
      <p:sp>
        <p:nvSpPr>
          <p:cNvPr id="29" name="Text 22"/>
          <p:cNvSpPr/>
          <p:nvPr/>
        </p:nvSpPr>
        <p:spPr>
          <a:xfrm>
            <a:off x="594360" y="2336292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Francisco, US</a:t>
            </a:r>
            <a:endParaRPr lang="en-US" sz="1000" dirty="0"/>
          </a:p>
        </p:txBody>
      </p:sp>
      <p:pic>
        <p:nvPicPr>
          <p:cNvPr id="30" name="Image 5" descr="/home/claude/deck/icons/calend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2610612"/>
            <a:ext cx="128016" cy="12801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95528" y="255117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8A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</a:t>
            </a:r>
            <a:endParaRPr lang="en-US" sz="750" dirty="0"/>
          </a:p>
        </p:txBody>
      </p:sp>
      <p:sp>
        <p:nvSpPr>
          <p:cNvPr id="32" name="Text 24"/>
          <p:cNvSpPr/>
          <p:nvPr/>
        </p:nvSpPr>
        <p:spPr>
          <a:xfrm>
            <a:off x="594360" y="273862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000" dirty="0"/>
          </a:p>
        </p:txBody>
      </p:sp>
      <p:pic>
        <p:nvPicPr>
          <p:cNvPr id="33" name="Image 6" descr="/home/claude/deck/icons/briefcas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012948"/>
            <a:ext cx="128016" cy="128016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95528" y="2953512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8A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750" dirty="0"/>
          </a:p>
        </p:txBody>
      </p:sp>
      <p:sp>
        <p:nvSpPr>
          <p:cNvPr id="35" name="Text 26"/>
          <p:cNvSpPr/>
          <p:nvPr/>
        </p:nvSpPr>
        <p:spPr>
          <a:xfrm>
            <a:off x="594360" y="3140964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Public Benefit Corp.</a:t>
            </a:r>
            <a:endParaRPr lang="en-US" sz="1000" dirty="0"/>
          </a:p>
        </p:txBody>
      </p:sp>
      <p:pic>
        <p:nvPicPr>
          <p:cNvPr id="36" name="Image 7" descr="/home/claude/deck/icons/tag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" y="3415284"/>
            <a:ext cx="128016" cy="128016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795528" y="335584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8A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</a:t>
            </a:r>
            <a:endParaRPr lang="en-US" sz="750" dirty="0"/>
          </a:p>
        </p:txBody>
      </p:sp>
      <p:sp>
        <p:nvSpPr>
          <p:cNvPr id="38" name="Text 28"/>
          <p:cNvSpPr/>
          <p:nvPr/>
        </p:nvSpPr>
        <p:spPr>
          <a:xfrm>
            <a:off x="594360" y="3543300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safety / Enterprise AI</a:t>
            </a:r>
            <a:endParaRPr lang="en-US" sz="1000" dirty="0"/>
          </a:p>
        </p:txBody>
      </p:sp>
      <p:pic>
        <p:nvPicPr>
          <p:cNvPr id="39" name="Image 8" descr="/home/claude/deck/icons/person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4360" y="3817620"/>
            <a:ext cx="128016" cy="128016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795528" y="3758184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8A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750" dirty="0"/>
          </a:p>
        </p:txBody>
      </p:sp>
      <p:sp>
        <p:nvSpPr>
          <p:cNvPr id="41" name="Text 30"/>
          <p:cNvSpPr/>
          <p:nvPr/>
        </p:nvSpPr>
        <p:spPr>
          <a:xfrm>
            <a:off x="594360" y="3945636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fast (private)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94360" y="4224528"/>
            <a:ext cx="1965960" cy="9144"/>
          </a:xfrm>
          <a:prstGeom prst="rect">
            <a:avLst/>
          </a:prstGeom>
          <a:solidFill>
            <a:srgbClr val="274B82"/>
          </a:solidFill>
          <a:ln/>
        </p:spPr>
      </p:sp>
      <p:sp>
        <p:nvSpPr>
          <p:cNvPr id="43" name="Text 32"/>
          <p:cNvSpPr/>
          <p:nvPr/>
        </p:nvSpPr>
        <p:spPr>
          <a:xfrm>
            <a:off x="594360" y="435254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0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DESCRIPTION</a:t>
            </a:r>
            <a:endParaRPr lang="en-US" sz="800" dirty="0"/>
          </a:p>
        </p:txBody>
      </p:sp>
      <p:sp>
        <p:nvSpPr>
          <p:cNvPr id="44" name="Text 33"/>
          <p:cNvSpPr/>
          <p:nvPr/>
        </p:nvSpPr>
        <p:spPr>
          <a:xfrm>
            <a:off x="594360" y="4590288"/>
            <a:ext cx="19659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60" dirty="0">
                <a:solidFill>
                  <a:srgbClr val="D3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is an AI safety and research company building Claude, Claude Enterprise and the Claude API. Founded by former OpenAI researchers, it positions safety and reliability as a core differentiator versus rival AI labs.</a:t>
            </a:r>
            <a:endParaRPr lang="en-US" sz="860" dirty="0"/>
          </a:p>
        </p:txBody>
      </p:sp>
      <p:sp>
        <p:nvSpPr>
          <p:cNvPr id="45" name="Shape 34"/>
          <p:cNvSpPr/>
          <p:nvPr/>
        </p:nvSpPr>
        <p:spPr>
          <a:xfrm>
            <a:off x="2944368" y="2029968"/>
            <a:ext cx="2835554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B2545">
                <a:alpha val="10000"/>
              </a:srgbClr>
            </a:outerShdw>
          </a:effectLst>
        </p:spPr>
      </p:sp>
      <p:sp>
        <p:nvSpPr>
          <p:cNvPr id="46" name="Shape 35"/>
          <p:cNvSpPr/>
          <p:nvPr/>
        </p:nvSpPr>
        <p:spPr>
          <a:xfrm>
            <a:off x="3090672" y="2167128"/>
            <a:ext cx="310896" cy="310896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47" name="Image 9" descr="/home/claude/deck/icons/puzzl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74614" y="2251070"/>
            <a:ext cx="143012" cy="143012"/>
          </a:xfrm>
          <a:prstGeom prst="rect">
            <a:avLst/>
          </a:prstGeom>
        </p:spPr>
      </p:pic>
      <p:sp>
        <p:nvSpPr>
          <p:cNvPr id="48" name="Text 36"/>
          <p:cNvSpPr/>
          <p:nvPr/>
        </p:nvSpPr>
        <p:spPr>
          <a:xfrm>
            <a:off x="3493008" y="2148840"/>
            <a:ext cx="21588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DO</a:t>
            </a:r>
            <a:endParaRPr lang="en-US" sz="1050" dirty="0"/>
          </a:p>
        </p:txBody>
      </p:sp>
      <p:sp>
        <p:nvSpPr>
          <p:cNvPr id="49" name="Shape 37"/>
          <p:cNvSpPr/>
          <p:nvPr/>
        </p:nvSpPr>
        <p:spPr>
          <a:xfrm>
            <a:off x="3090672" y="2587752"/>
            <a:ext cx="54864" cy="54864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50" name="Text 38"/>
          <p:cNvSpPr/>
          <p:nvPr/>
        </p:nvSpPr>
        <p:spPr>
          <a:xfrm>
            <a:off x="3236976" y="2487168"/>
            <a:ext cx="23966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— assistant for writing, analysis, coding and business workflows</a:t>
            </a:r>
            <a:endParaRPr lang="en-US" sz="860" dirty="0"/>
          </a:p>
        </p:txBody>
      </p:sp>
      <p:sp>
        <p:nvSpPr>
          <p:cNvPr id="51" name="Shape 39"/>
          <p:cNvSpPr/>
          <p:nvPr/>
        </p:nvSpPr>
        <p:spPr>
          <a:xfrm>
            <a:off x="3090672" y="2935224"/>
            <a:ext cx="54864" cy="54864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52" name="Text 40"/>
          <p:cNvSpPr/>
          <p:nvPr/>
        </p:nvSpPr>
        <p:spPr>
          <a:xfrm>
            <a:off x="3236976" y="2834640"/>
            <a:ext cx="23966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Enterprise — org-wide deployment with governance &amp; admin controls</a:t>
            </a:r>
            <a:endParaRPr lang="en-US" sz="860" dirty="0"/>
          </a:p>
        </p:txBody>
      </p:sp>
      <p:sp>
        <p:nvSpPr>
          <p:cNvPr id="53" name="Shape 41"/>
          <p:cNvSpPr/>
          <p:nvPr/>
        </p:nvSpPr>
        <p:spPr>
          <a:xfrm>
            <a:off x="3090672" y="3282696"/>
            <a:ext cx="54864" cy="54864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54" name="Text 42"/>
          <p:cNvSpPr/>
          <p:nvPr/>
        </p:nvSpPr>
        <p:spPr>
          <a:xfrm>
            <a:off x="3236976" y="3182112"/>
            <a:ext cx="23966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— programmatic access to Claude models for developers</a:t>
            </a:r>
            <a:endParaRPr lang="en-US" sz="860" dirty="0"/>
          </a:p>
        </p:txBody>
      </p:sp>
      <p:sp>
        <p:nvSpPr>
          <p:cNvPr id="55" name="Shape 43"/>
          <p:cNvSpPr/>
          <p:nvPr/>
        </p:nvSpPr>
        <p:spPr>
          <a:xfrm>
            <a:off x="5944514" y="2029968"/>
            <a:ext cx="2835554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B2545">
                <a:alpha val="10000"/>
              </a:srgbClr>
            </a:outerShdw>
          </a:effectLst>
        </p:spPr>
      </p:sp>
      <p:sp>
        <p:nvSpPr>
          <p:cNvPr id="56" name="Shape 44"/>
          <p:cNvSpPr/>
          <p:nvPr/>
        </p:nvSpPr>
        <p:spPr>
          <a:xfrm>
            <a:off x="6090818" y="2167128"/>
            <a:ext cx="310896" cy="310896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57" name="Image 10" descr="/home/claude/deck/icons/person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74760" y="2251070"/>
            <a:ext cx="143012" cy="143012"/>
          </a:xfrm>
          <a:prstGeom prst="rect">
            <a:avLst/>
          </a:prstGeom>
        </p:spPr>
      </p:pic>
      <p:sp>
        <p:nvSpPr>
          <p:cNvPr id="58" name="Text 45"/>
          <p:cNvSpPr/>
          <p:nvPr/>
        </p:nvSpPr>
        <p:spPr>
          <a:xfrm>
            <a:off x="6493154" y="2148840"/>
            <a:ext cx="21588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</a:t>
            </a:r>
            <a:endParaRPr lang="en-US" sz="1050" dirty="0"/>
          </a:p>
        </p:txBody>
      </p:sp>
      <p:sp>
        <p:nvSpPr>
          <p:cNvPr id="59" name="Shape 46"/>
          <p:cNvSpPr/>
          <p:nvPr/>
        </p:nvSpPr>
        <p:spPr>
          <a:xfrm>
            <a:off x="6090818" y="2578608"/>
            <a:ext cx="237744" cy="237744"/>
          </a:xfrm>
          <a:prstGeom prst="ellipse">
            <a:avLst/>
          </a:prstGeom>
          <a:solidFill>
            <a:srgbClr val="E6EDF8"/>
          </a:solidFill>
          <a:ln w="9525">
            <a:solidFill>
              <a:srgbClr val="AFC4E8"/>
            </a:solidFill>
            <a:prstDash val="dash"/>
          </a:ln>
        </p:spPr>
      </p:sp>
      <p:pic>
        <p:nvPicPr>
          <p:cNvPr id="60" name="Image 11" descr="/home/claude/deck/icons/person_navy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31966" y="2638044"/>
            <a:ext cx="118872" cy="118872"/>
          </a:xfrm>
          <a:prstGeom prst="rect">
            <a:avLst/>
          </a:prstGeom>
        </p:spPr>
      </p:pic>
      <p:sp>
        <p:nvSpPr>
          <p:cNvPr id="61" name="Text 47"/>
          <p:cNvSpPr/>
          <p:nvPr/>
        </p:nvSpPr>
        <p:spPr>
          <a:xfrm>
            <a:off x="6401714" y="2551176"/>
            <a:ext cx="22320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Dario Amodei</a:t>
            </a:r>
            <a:endParaRPr lang="en-US" sz="820" dirty="0"/>
          </a:p>
        </p:txBody>
      </p:sp>
      <p:sp>
        <p:nvSpPr>
          <p:cNvPr id="62" name="Text 48"/>
          <p:cNvSpPr/>
          <p:nvPr/>
        </p:nvSpPr>
        <p:spPr>
          <a:xfrm>
            <a:off x="6401714" y="2688336"/>
            <a:ext cx="223205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&amp; Co-founder</a:t>
            </a:r>
            <a:endParaRPr lang="en-US" sz="680" dirty="0"/>
          </a:p>
        </p:txBody>
      </p:sp>
      <p:sp>
        <p:nvSpPr>
          <p:cNvPr id="63" name="Shape 49"/>
          <p:cNvSpPr/>
          <p:nvPr/>
        </p:nvSpPr>
        <p:spPr>
          <a:xfrm>
            <a:off x="6090818" y="2825496"/>
            <a:ext cx="237744" cy="237744"/>
          </a:xfrm>
          <a:prstGeom prst="ellipse">
            <a:avLst/>
          </a:prstGeom>
          <a:solidFill>
            <a:srgbClr val="E6EDF8"/>
          </a:solidFill>
          <a:ln w="9525">
            <a:solidFill>
              <a:srgbClr val="AFC4E8"/>
            </a:solidFill>
            <a:prstDash val="dash"/>
          </a:ln>
        </p:spPr>
      </p:sp>
      <p:pic>
        <p:nvPicPr>
          <p:cNvPr id="64" name="Image 12" descr="/home/claude/deck/icons/person_navy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31966" y="2884932"/>
            <a:ext cx="118872" cy="118872"/>
          </a:xfrm>
          <a:prstGeom prst="rect">
            <a:avLst/>
          </a:prstGeom>
        </p:spPr>
      </p:pic>
      <p:sp>
        <p:nvSpPr>
          <p:cNvPr id="65" name="Text 50"/>
          <p:cNvSpPr/>
          <p:nvPr/>
        </p:nvSpPr>
        <p:spPr>
          <a:xfrm>
            <a:off x="6401714" y="2798064"/>
            <a:ext cx="22320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Daniela Amodei</a:t>
            </a:r>
            <a:endParaRPr lang="en-US" sz="820" dirty="0"/>
          </a:p>
        </p:txBody>
      </p:sp>
      <p:sp>
        <p:nvSpPr>
          <p:cNvPr id="66" name="Text 51"/>
          <p:cNvSpPr/>
          <p:nvPr/>
        </p:nvSpPr>
        <p:spPr>
          <a:xfrm>
            <a:off x="6401714" y="2935224"/>
            <a:ext cx="223205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President &amp; Co-founder</a:t>
            </a:r>
            <a:endParaRPr lang="en-US" sz="680" dirty="0"/>
          </a:p>
        </p:txBody>
      </p:sp>
      <p:sp>
        <p:nvSpPr>
          <p:cNvPr id="67" name="Shape 52"/>
          <p:cNvSpPr/>
          <p:nvPr/>
        </p:nvSpPr>
        <p:spPr>
          <a:xfrm>
            <a:off x="6090818" y="3072384"/>
            <a:ext cx="237744" cy="237744"/>
          </a:xfrm>
          <a:prstGeom prst="ellipse">
            <a:avLst/>
          </a:prstGeom>
          <a:solidFill>
            <a:srgbClr val="E6EDF8"/>
          </a:solidFill>
          <a:ln w="9525">
            <a:solidFill>
              <a:srgbClr val="AFC4E8"/>
            </a:solidFill>
            <a:prstDash val="dash"/>
          </a:ln>
        </p:spPr>
      </p:sp>
      <p:pic>
        <p:nvPicPr>
          <p:cNvPr id="68" name="Image 13" descr="/home/claude/deck/icons/person_navy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31966" y="3131820"/>
            <a:ext cx="118872" cy="118872"/>
          </a:xfrm>
          <a:prstGeom prst="rect">
            <a:avLst/>
          </a:prstGeom>
        </p:spPr>
      </p:pic>
      <p:sp>
        <p:nvSpPr>
          <p:cNvPr id="69" name="Text 53"/>
          <p:cNvSpPr/>
          <p:nvPr/>
        </p:nvSpPr>
        <p:spPr>
          <a:xfrm>
            <a:off x="6401714" y="3044952"/>
            <a:ext cx="22320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Mike Krieger</a:t>
            </a:r>
            <a:endParaRPr lang="en-US" sz="820" dirty="0"/>
          </a:p>
        </p:txBody>
      </p:sp>
      <p:sp>
        <p:nvSpPr>
          <p:cNvPr id="70" name="Text 54"/>
          <p:cNvSpPr/>
          <p:nvPr/>
        </p:nvSpPr>
        <p:spPr>
          <a:xfrm>
            <a:off x="6401714" y="3182112"/>
            <a:ext cx="223205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Product Officer</a:t>
            </a:r>
            <a:endParaRPr lang="en-US" sz="680" dirty="0"/>
          </a:p>
        </p:txBody>
      </p:sp>
      <p:sp>
        <p:nvSpPr>
          <p:cNvPr id="71" name="Shape 55"/>
          <p:cNvSpPr/>
          <p:nvPr/>
        </p:nvSpPr>
        <p:spPr>
          <a:xfrm>
            <a:off x="6090818" y="3319272"/>
            <a:ext cx="237744" cy="237744"/>
          </a:xfrm>
          <a:prstGeom prst="ellipse">
            <a:avLst/>
          </a:prstGeom>
          <a:solidFill>
            <a:srgbClr val="E6EDF8"/>
          </a:solidFill>
          <a:ln w="9525">
            <a:solidFill>
              <a:srgbClr val="AFC4E8"/>
            </a:solidFill>
            <a:prstDash val="dash"/>
          </a:ln>
        </p:spPr>
      </p:sp>
      <p:pic>
        <p:nvPicPr>
          <p:cNvPr id="72" name="Image 14" descr="/home/claude/deck/icons/person_navy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31966" y="3378708"/>
            <a:ext cx="118872" cy="118872"/>
          </a:xfrm>
          <a:prstGeom prst="rect">
            <a:avLst/>
          </a:prstGeom>
        </p:spPr>
      </p:pic>
      <p:sp>
        <p:nvSpPr>
          <p:cNvPr id="73" name="Text 56"/>
          <p:cNvSpPr/>
          <p:nvPr/>
        </p:nvSpPr>
        <p:spPr>
          <a:xfrm>
            <a:off x="6401714" y="3291840"/>
            <a:ext cx="22320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Jared Kaplan</a:t>
            </a:r>
            <a:endParaRPr lang="en-US" sz="820" dirty="0"/>
          </a:p>
        </p:txBody>
      </p:sp>
      <p:sp>
        <p:nvSpPr>
          <p:cNvPr id="74" name="Text 57"/>
          <p:cNvSpPr/>
          <p:nvPr/>
        </p:nvSpPr>
        <p:spPr>
          <a:xfrm>
            <a:off x="6401714" y="3429000"/>
            <a:ext cx="223205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/ Research Lead</a:t>
            </a:r>
            <a:endParaRPr lang="en-US" sz="680" dirty="0"/>
          </a:p>
        </p:txBody>
      </p:sp>
      <p:sp>
        <p:nvSpPr>
          <p:cNvPr id="75" name="Shape 58"/>
          <p:cNvSpPr/>
          <p:nvPr/>
        </p:nvSpPr>
        <p:spPr>
          <a:xfrm>
            <a:off x="8944661" y="2029968"/>
            <a:ext cx="2835554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B2545">
                <a:alpha val="10000"/>
              </a:srgbClr>
            </a:outerShdw>
          </a:effectLst>
        </p:spPr>
      </p:sp>
      <p:sp>
        <p:nvSpPr>
          <p:cNvPr id="76" name="Shape 59"/>
          <p:cNvSpPr/>
          <p:nvPr/>
        </p:nvSpPr>
        <p:spPr>
          <a:xfrm>
            <a:off x="9090965" y="2167128"/>
            <a:ext cx="310896" cy="310896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77" name="Image 15" descr="/home/claude/deck/icons/bank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74907" y="2251070"/>
            <a:ext cx="143012" cy="143012"/>
          </a:xfrm>
          <a:prstGeom prst="rect">
            <a:avLst/>
          </a:prstGeom>
        </p:spPr>
      </p:pic>
      <p:sp>
        <p:nvSpPr>
          <p:cNvPr id="78" name="Text 60"/>
          <p:cNvSpPr/>
          <p:nvPr/>
        </p:nvSpPr>
        <p:spPr>
          <a:xfrm>
            <a:off x="9493301" y="2148840"/>
            <a:ext cx="21588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/ COMMERCIAL</a:t>
            </a:r>
            <a:endParaRPr lang="en-US" sz="1050" dirty="0"/>
          </a:p>
        </p:txBody>
      </p:sp>
      <p:sp>
        <p:nvSpPr>
          <p:cNvPr id="79" name="Shape 61"/>
          <p:cNvSpPr/>
          <p:nvPr/>
        </p:nvSpPr>
        <p:spPr>
          <a:xfrm>
            <a:off x="9090965" y="2587752"/>
            <a:ext cx="54864" cy="54864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80" name="Text 62"/>
          <p:cNvSpPr/>
          <p:nvPr/>
        </p:nvSpPr>
        <p:spPr>
          <a:xfrm>
            <a:off x="9237269" y="2487168"/>
            <a:ext cx="23966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Series H: $65bn raised at a $965bn post-money valuation</a:t>
            </a:r>
            <a:endParaRPr lang="en-US" sz="800" dirty="0"/>
          </a:p>
        </p:txBody>
      </p:sp>
      <p:sp>
        <p:nvSpPr>
          <p:cNvPr id="81" name="Shape 63"/>
          <p:cNvSpPr/>
          <p:nvPr/>
        </p:nvSpPr>
        <p:spPr>
          <a:xfrm>
            <a:off x="9090965" y="2935224"/>
            <a:ext cx="54864" cy="54864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82" name="Text 64"/>
          <p:cNvSpPr/>
          <p:nvPr/>
        </p:nvSpPr>
        <p:spPr>
          <a:xfrm>
            <a:off x="9237269" y="2834640"/>
            <a:ext cx="23966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Claude enterprise/API adoption; expansion into coding, security &amp; productivity</a:t>
            </a:r>
            <a:endParaRPr lang="en-US" sz="800" dirty="0"/>
          </a:p>
        </p:txBody>
      </p:sp>
      <p:sp>
        <p:nvSpPr>
          <p:cNvPr id="83" name="Shape 65"/>
          <p:cNvSpPr/>
          <p:nvPr/>
        </p:nvSpPr>
        <p:spPr>
          <a:xfrm>
            <a:off x="9090965" y="3282696"/>
            <a:ext cx="54864" cy="54864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84" name="Text 66"/>
          <p:cNvSpPr/>
          <p:nvPr/>
        </p:nvSpPr>
        <p:spPr>
          <a:xfrm>
            <a:off x="9237269" y="3182112"/>
            <a:ext cx="23966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financials are not reported like a listed company — funding &amp; valuation are signals, not full performance</a:t>
            </a:r>
            <a:endParaRPr lang="en-US" sz="800" dirty="0"/>
          </a:p>
        </p:txBody>
      </p:sp>
      <p:sp>
        <p:nvSpPr>
          <p:cNvPr id="85" name="Shape 67"/>
          <p:cNvSpPr/>
          <p:nvPr/>
        </p:nvSpPr>
        <p:spPr>
          <a:xfrm>
            <a:off x="2944368" y="3685032"/>
            <a:ext cx="8835847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B2545">
                <a:alpha val="10000"/>
              </a:srgbClr>
            </a:outerShdw>
          </a:effectLst>
        </p:spPr>
      </p:sp>
      <p:sp>
        <p:nvSpPr>
          <p:cNvPr id="86" name="Shape 68"/>
          <p:cNvSpPr/>
          <p:nvPr/>
        </p:nvSpPr>
        <p:spPr>
          <a:xfrm>
            <a:off x="3090672" y="3803904"/>
            <a:ext cx="310896" cy="310896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87" name="Image 16" descr="/home/claude/deck/icons/newspaper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174614" y="3887846"/>
            <a:ext cx="143012" cy="143012"/>
          </a:xfrm>
          <a:prstGeom prst="rect">
            <a:avLst/>
          </a:prstGeom>
        </p:spPr>
      </p:pic>
      <p:sp>
        <p:nvSpPr>
          <p:cNvPr id="88" name="Text 69"/>
          <p:cNvSpPr/>
          <p:nvPr/>
        </p:nvSpPr>
        <p:spPr>
          <a:xfrm>
            <a:off x="3493008" y="3785616"/>
            <a:ext cx="81591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NEWS / SIGNALS  ·  VERIFY RELEVANCE BEFORE EXTERNAL USE</a:t>
            </a:r>
            <a:endParaRPr lang="en-US" sz="1050" dirty="0"/>
          </a:p>
        </p:txBody>
      </p:sp>
      <p:pic>
        <p:nvPicPr>
          <p:cNvPr id="89" name="Image 17" descr="/home/claude/deck/icons/external_navy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090672" y="4178808"/>
            <a:ext cx="91440" cy="91440"/>
          </a:xfrm>
          <a:prstGeom prst="rect">
            <a:avLst/>
          </a:prstGeom>
        </p:spPr>
      </p:pic>
      <p:sp>
        <p:nvSpPr>
          <p:cNvPr id="90" name="Text 70"/>
          <p:cNvSpPr/>
          <p:nvPr/>
        </p:nvSpPr>
        <p:spPr>
          <a:xfrm>
            <a:off x="3236976" y="4096512"/>
            <a:ext cx="40155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launches Claude Science in push for pharma revenue</a:t>
            </a:r>
            <a:pPr indent="0" marL="0">
              <a:lnSpc>
                <a:spcPct val="105000"/>
              </a:lnSpc>
              <a:buNone/>
            </a:pPr>
            <a:r>
              <a:rPr lang="en-US" sz="730" b="1" i="1" dirty="0">
                <a:solidFill>
                  <a:srgbClr val="1B4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Financial Times</a:t>
            </a:r>
            <a:endParaRPr lang="en-US" sz="780" dirty="0"/>
          </a:p>
        </p:txBody>
      </p:sp>
      <p:pic>
        <p:nvPicPr>
          <p:cNvPr id="91" name="Image 18" descr="/home/claude/deck/icons/external_navy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090672" y="4416552"/>
            <a:ext cx="91440" cy="91440"/>
          </a:xfrm>
          <a:prstGeom prst="rect">
            <a:avLst/>
          </a:prstGeom>
        </p:spPr>
      </p:pic>
      <p:sp>
        <p:nvSpPr>
          <p:cNvPr id="92" name="Text 71"/>
          <p:cNvSpPr/>
          <p:nvPr/>
        </p:nvSpPr>
        <p:spPr>
          <a:xfrm>
            <a:off x="3236976" y="4334256"/>
            <a:ext cx="40155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launches Claude Sonnet 5 as a cheaper way to run agents</a:t>
            </a:r>
            <a:pPr indent="0" marL="0">
              <a:lnSpc>
                <a:spcPct val="105000"/>
              </a:lnSpc>
              <a:buNone/>
            </a:pPr>
            <a:r>
              <a:rPr lang="en-US" sz="730" b="1" i="1" dirty="0">
                <a:solidFill>
                  <a:srgbClr val="1B4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TechCrunch</a:t>
            </a:r>
            <a:endParaRPr lang="en-US" sz="780" dirty="0"/>
          </a:p>
        </p:txBody>
      </p:sp>
      <p:pic>
        <p:nvPicPr>
          <p:cNvPr id="93" name="Image 19" descr="/home/claude/deck/icons/external_navy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090672" y="4654296"/>
            <a:ext cx="91440" cy="91440"/>
          </a:xfrm>
          <a:prstGeom prst="rect">
            <a:avLst/>
          </a:prstGeom>
        </p:spPr>
      </p:pic>
      <p:sp>
        <p:nvSpPr>
          <p:cNvPr id="94" name="Text 72"/>
          <p:cNvSpPr/>
          <p:nvPr/>
        </p:nvSpPr>
        <p:spPr>
          <a:xfrm>
            <a:off x="3236976" y="4572000"/>
            <a:ext cx="40155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Sonnet 5 model is better at tasks running up enterprise bills</a:t>
            </a:r>
            <a:pPr indent="0" marL="0">
              <a:lnSpc>
                <a:spcPct val="105000"/>
              </a:lnSpc>
              <a:buNone/>
            </a:pPr>
            <a:r>
              <a:rPr lang="en-US" sz="730" b="1" i="1" dirty="0">
                <a:solidFill>
                  <a:srgbClr val="1B4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Engadget</a:t>
            </a:r>
            <a:endParaRPr lang="en-US" sz="780" dirty="0"/>
          </a:p>
        </p:txBody>
      </p:sp>
      <p:pic>
        <p:nvPicPr>
          <p:cNvPr id="95" name="Image 20" descr="/home/claude/deck/icons/external_navy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453732" y="4178808"/>
            <a:ext cx="91440" cy="91440"/>
          </a:xfrm>
          <a:prstGeom prst="rect">
            <a:avLst/>
          </a:prstGeom>
        </p:spPr>
      </p:pic>
      <p:sp>
        <p:nvSpPr>
          <p:cNvPr id="96" name="Text 73"/>
          <p:cNvSpPr/>
          <p:nvPr/>
        </p:nvSpPr>
        <p:spPr>
          <a:xfrm>
            <a:off x="7600036" y="4096512"/>
            <a:ext cx="40155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expands European footprint with new Paris office</a:t>
            </a:r>
            <a:pPr indent="0" marL="0">
              <a:lnSpc>
                <a:spcPct val="105000"/>
              </a:lnSpc>
              <a:buNone/>
            </a:pPr>
            <a:r>
              <a:rPr lang="en-US" sz="730" b="1" i="1" dirty="0">
                <a:solidFill>
                  <a:srgbClr val="1B4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Reuters</a:t>
            </a:r>
            <a:endParaRPr lang="en-US" sz="780" dirty="0"/>
          </a:p>
        </p:txBody>
      </p:sp>
      <p:pic>
        <p:nvPicPr>
          <p:cNvPr id="97" name="Image 21" descr="/home/claude/deck/icons/external_navy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453732" y="4416552"/>
            <a:ext cx="91440" cy="91440"/>
          </a:xfrm>
          <a:prstGeom prst="rect">
            <a:avLst/>
          </a:prstGeom>
        </p:spPr>
      </p:pic>
      <p:sp>
        <p:nvSpPr>
          <p:cNvPr id="98" name="Text 74"/>
          <p:cNvSpPr/>
          <p:nvPr/>
        </p:nvSpPr>
        <p:spPr>
          <a:xfrm>
            <a:off x="7600036" y="4334256"/>
            <a:ext cx="40155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in talks for funding round valuing it near $965bn</a:t>
            </a:r>
            <a:pPr indent="0" marL="0">
              <a:lnSpc>
                <a:spcPct val="105000"/>
              </a:lnSpc>
              <a:buNone/>
            </a:pPr>
            <a:r>
              <a:rPr lang="en-US" sz="730" b="1" i="1" dirty="0">
                <a:solidFill>
                  <a:srgbClr val="1B4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Bloomberg</a:t>
            </a:r>
            <a:endParaRPr lang="en-US" sz="780" dirty="0"/>
          </a:p>
        </p:txBody>
      </p:sp>
      <p:sp>
        <p:nvSpPr>
          <p:cNvPr id="99" name="Shape 75"/>
          <p:cNvSpPr/>
          <p:nvPr/>
        </p:nvSpPr>
        <p:spPr>
          <a:xfrm>
            <a:off x="2944368" y="4791456"/>
            <a:ext cx="4335628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B2545">
                <a:alpha val="10000"/>
              </a:srgbClr>
            </a:outerShdw>
          </a:effectLst>
        </p:spPr>
      </p:sp>
      <p:sp>
        <p:nvSpPr>
          <p:cNvPr id="100" name="Shape 76"/>
          <p:cNvSpPr/>
          <p:nvPr/>
        </p:nvSpPr>
        <p:spPr>
          <a:xfrm>
            <a:off x="3090672" y="4910328"/>
            <a:ext cx="310896" cy="310896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101" name="Image 22" descr="/home/claude/deck/icons/warning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174614" y="4994270"/>
            <a:ext cx="143012" cy="143012"/>
          </a:xfrm>
          <a:prstGeom prst="rect">
            <a:avLst/>
          </a:prstGeom>
        </p:spPr>
      </p:pic>
      <p:sp>
        <p:nvSpPr>
          <p:cNvPr id="102" name="Text 77"/>
          <p:cNvSpPr/>
          <p:nvPr/>
        </p:nvSpPr>
        <p:spPr>
          <a:xfrm>
            <a:off x="3493008" y="4892040"/>
            <a:ext cx="36589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/ VERIFY</a:t>
            </a:r>
            <a:endParaRPr lang="en-US" sz="1050" dirty="0"/>
          </a:p>
        </p:txBody>
      </p:sp>
      <p:sp>
        <p:nvSpPr>
          <p:cNvPr id="103" name="Shape 78"/>
          <p:cNvSpPr/>
          <p:nvPr/>
        </p:nvSpPr>
        <p:spPr>
          <a:xfrm>
            <a:off x="3090672" y="5289804"/>
            <a:ext cx="54864" cy="54864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04" name="Text 79"/>
          <p:cNvSpPr/>
          <p:nvPr/>
        </p:nvSpPr>
        <p:spPr>
          <a:xfrm>
            <a:off x="3236976" y="5202936"/>
            <a:ext cx="3896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Private-company financials are incomplete unless explicitly disclosed</a:t>
            </a:r>
            <a:endParaRPr lang="en-US" sz="780" dirty="0"/>
          </a:p>
        </p:txBody>
      </p:sp>
      <p:sp>
        <p:nvSpPr>
          <p:cNvPr id="105" name="Shape 80"/>
          <p:cNvSpPr/>
          <p:nvPr/>
        </p:nvSpPr>
        <p:spPr>
          <a:xfrm>
            <a:off x="3090672" y="5518404"/>
            <a:ext cx="54864" cy="54864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06" name="Text 81"/>
          <p:cNvSpPr/>
          <p:nvPr/>
        </p:nvSpPr>
        <p:spPr>
          <a:xfrm>
            <a:off x="3236976" y="5431536"/>
            <a:ext cx="3896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news may be duplicated, irrelevant or behind paywalls</a:t>
            </a:r>
            <a:endParaRPr lang="en-US" sz="780" dirty="0"/>
          </a:p>
        </p:txBody>
      </p:sp>
      <p:sp>
        <p:nvSpPr>
          <p:cNvPr id="107" name="Shape 82"/>
          <p:cNvSpPr/>
          <p:nvPr/>
        </p:nvSpPr>
        <p:spPr>
          <a:xfrm>
            <a:off x="3090672" y="5747004"/>
            <a:ext cx="54864" cy="54864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08" name="Text 83"/>
          <p:cNvSpPr/>
          <p:nvPr/>
        </p:nvSpPr>
        <p:spPr>
          <a:xfrm>
            <a:off x="3236976" y="5660136"/>
            <a:ext cx="3896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this as a first draft requiring human review before use</a:t>
            </a:r>
            <a:endParaRPr lang="en-US" sz="780" dirty="0"/>
          </a:p>
        </p:txBody>
      </p:sp>
      <p:sp>
        <p:nvSpPr>
          <p:cNvPr id="109" name="Shape 84"/>
          <p:cNvSpPr/>
          <p:nvPr/>
        </p:nvSpPr>
        <p:spPr>
          <a:xfrm>
            <a:off x="7444588" y="4791456"/>
            <a:ext cx="4335628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B2545">
                <a:alpha val="10000"/>
              </a:srgbClr>
            </a:outerShdw>
          </a:effectLst>
        </p:spPr>
      </p:sp>
      <p:sp>
        <p:nvSpPr>
          <p:cNvPr id="110" name="Shape 85"/>
          <p:cNvSpPr/>
          <p:nvPr/>
        </p:nvSpPr>
        <p:spPr>
          <a:xfrm>
            <a:off x="7590892" y="4910328"/>
            <a:ext cx="310896" cy="310896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111" name="Image 23" descr="/home/claude/deck/icons/select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674834" y="4994270"/>
            <a:ext cx="143012" cy="143012"/>
          </a:xfrm>
          <a:prstGeom prst="rect">
            <a:avLst/>
          </a:prstGeom>
        </p:spPr>
      </p:pic>
      <p:sp>
        <p:nvSpPr>
          <p:cNvPr id="112" name="Text 86"/>
          <p:cNvSpPr/>
          <p:nvPr/>
        </p:nvSpPr>
        <p:spPr>
          <a:xfrm>
            <a:off x="7993228" y="4892040"/>
            <a:ext cx="36589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50" dirty="0"/>
          </a:p>
        </p:txBody>
      </p:sp>
      <p:sp>
        <p:nvSpPr>
          <p:cNvPr id="113" name="Shape 87"/>
          <p:cNvSpPr/>
          <p:nvPr/>
        </p:nvSpPr>
        <p:spPr>
          <a:xfrm>
            <a:off x="7590892" y="5289804"/>
            <a:ext cx="54864" cy="54864"/>
          </a:xfrm>
          <a:prstGeom prst="ellipse">
            <a:avLst/>
          </a:prstGeom>
          <a:solidFill>
            <a:srgbClr val="00A9C4"/>
          </a:solidFill>
          <a:ln/>
        </p:spPr>
      </p:sp>
      <p:sp>
        <p:nvSpPr>
          <p:cNvPr id="114" name="Text 88"/>
          <p:cNvSpPr/>
          <p:nvPr/>
        </p:nvSpPr>
        <p:spPr>
          <a:xfrm>
            <a:off x="7737196" y="5202936"/>
            <a:ext cx="3896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leadership, funding and product details against official sources</a:t>
            </a:r>
            <a:endParaRPr lang="en-US" sz="780" dirty="0"/>
          </a:p>
        </p:txBody>
      </p:sp>
      <p:sp>
        <p:nvSpPr>
          <p:cNvPr id="115" name="Shape 89"/>
          <p:cNvSpPr/>
          <p:nvPr/>
        </p:nvSpPr>
        <p:spPr>
          <a:xfrm>
            <a:off x="7590892" y="5518404"/>
            <a:ext cx="54864" cy="54864"/>
          </a:xfrm>
          <a:prstGeom prst="ellipse">
            <a:avLst/>
          </a:prstGeom>
          <a:solidFill>
            <a:srgbClr val="00A9C4"/>
          </a:solidFill>
          <a:ln/>
        </p:spPr>
      </p:sp>
      <p:sp>
        <p:nvSpPr>
          <p:cNvPr id="116" name="Text 90"/>
          <p:cNvSpPr/>
          <p:nvPr/>
        </p:nvSpPr>
        <p:spPr>
          <a:xfrm>
            <a:off x="7737196" y="5431536"/>
            <a:ext cx="3896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whether latest news is relevant and material</a:t>
            </a:r>
            <a:endParaRPr lang="en-US" sz="780" dirty="0"/>
          </a:p>
        </p:txBody>
      </p:sp>
      <p:sp>
        <p:nvSpPr>
          <p:cNvPr id="117" name="Shape 91"/>
          <p:cNvSpPr/>
          <p:nvPr/>
        </p:nvSpPr>
        <p:spPr>
          <a:xfrm>
            <a:off x="7590892" y="5747004"/>
            <a:ext cx="54864" cy="54864"/>
          </a:xfrm>
          <a:prstGeom prst="ellipse">
            <a:avLst/>
          </a:prstGeom>
          <a:solidFill>
            <a:srgbClr val="00A9C4"/>
          </a:solidFill>
          <a:ln/>
        </p:spPr>
      </p:sp>
      <p:sp>
        <p:nvSpPr>
          <p:cNvPr id="118" name="Text 92"/>
          <p:cNvSpPr/>
          <p:nvPr/>
        </p:nvSpPr>
        <p:spPr>
          <a:xfrm>
            <a:off x="7737196" y="5660136"/>
            <a:ext cx="3896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the one-pager before sharing with stakeholders</a:t>
            </a:r>
            <a:endParaRPr lang="en-US" sz="780" dirty="0"/>
          </a:p>
        </p:txBody>
      </p:sp>
      <p:sp>
        <p:nvSpPr>
          <p:cNvPr id="119" name="Shape 93"/>
          <p:cNvSpPr/>
          <p:nvPr/>
        </p:nvSpPr>
        <p:spPr>
          <a:xfrm>
            <a:off x="411480" y="5897880"/>
            <a:ext cx="11368735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B2545">
                <a:alpha val="10000"/>
              </a:srgbClr>
            </a:outerShdw>
          </a:effectLst>
        </p:spPr>
      </p:sp>
      <p:sp>
        <p:nvSpPr>
          <p:cNvPr id="120" name="Text 94"/>
          <p:cNvSpPr/>
          <p:nvPr/>
        </p:nvSpPr>
        <p:spPr>
          <a:xfrm>
            <a:off x="576072" y="593445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60" kern="0" dirty="0">
                <a:solidFill>
                  <a:srgbClr val="1B4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MILESTONES</a:t>
            </a:r>
            <a:endParaRPr lang="en-US" sz="720" dirty="0"/>
          </a:p>
        </p:txBody>
      </p:sp>
      <p:sp>
        <p:nvSpPr>
          <p:cNvPr id="121" name="Shape 95"/>
          <p:cNvSpPr/>
          <p:nvPr/>
        </p:nvSpPr>
        <p:spPr>
          <a:xfrm>
            <a:off x="2560320" y="6172200"/>
            <a:ext cx="8945575" cy="0"/>
          </a:xfrm>
          <a:prstGeom prst="line">
            <a:avLst/>
          </a:prstGeom>
          <a:noFill/>
          <a:ln w="19050">
            <a:solidFill>
              <a:srgbClr val="D7E0F0"/>
            </a:solidFill>
            <a:prstDash val="solid"/>
          </a:ln>
        </p:spPr>
      </p:sp>
      <p:sp>
        <p:nvSpPr>
          <p:cNvPr id="122" name="Shape 96"/>
          <p:cNvSpPr/>
          <p:nvPr/>
        </p:nvSpPr>
        <p:spPr>
          <a:xfrm>
            <a:off x="2519172" y="6131052"/>
            <a:ext cx="82296" cy="82296"/>
          </a:xfrm>
          <a:prstGeom prst="ellipse">
            <a:avLst/>
          </a:prstGeom>
          <a:solidFill>
            <a:srgbClr val="2F6F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3" name="Text 97"/>
          <p:cNvSpPr/>
          <p:nvPr/>
        </p:nvSpPr>
        <p:spPr>
          <a:xfrm>
            <a:off x="2057400" y="594360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700" dirty="0"/>
          </a:p>
        </p:txBody>
      </p:sp>
      <p:sp>
        <p:nvSpPr>
          <p:cNvPr id="124" name="Text 98"/>
          <p:cNvSpPr/>
          <p:nvPr/>
        </p:nvSpPr>
        <p:spPr>
          <a:xfrm>
            <a:off x="1965960" y="623620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by ex-OpenAI researchers</a:t>
            </a:r>
            <a:endParaRPr lang="en-US" sz="600" dirty="0"/>
          </a:p>
        </p:txBody>
      </p:sp>
      <p:sp>
        <p:nvSpPr>
          <p:cNvPr id="125" name="Shape 99"/>
          <p:cNvSpPr/>
          <p:nvPr/>
        </p:nvSpPr>
        <p:spPr>
          <a:xfrm>
            <a:off x="4755566" y="6131052"/>
            <a:ext cx="82296" cy="82296"/>
          </a:xfrm>
          <a:prstGeom prst="ellipse">
            <a:avLst/>
          </a:prstGeom>
          <a:solidFill>
            <a:srgbClr val="2F6F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6" name="Text 100"/>
          <p:cNvSpPr/>
          <p:nvPr/>
        </p:nvSpPr>
        <p:spPr>
          <a:xfrm>
            <a:off x="4293794" y="594360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700" dirty="0"/>
          </a:p>
        </p:txBody>
      </p:sp>
      <p:sp>
        <p:nvSpPr>
          <p:cNvPr id="127" name="Text 101"/>
          <p:cNvSpPr/>
          <p:nvPr/>
        </p:nvSpPr>
        <p:spPr>
          <a:xfrm>
            <a:off x="4202354" y="623620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gains enterprise attention</a:t>
            </a:r>
            <a:endParaRPr lang="en-US" sz="600" dirty="0"/>
          </a:p>
        </p:txBody>
      </p:sp>
      <p:sp>
        <p:nvSpPr>
          <p:cNvPr id="128" name="Shape 102"/>
          <p:cNvSpPr/>
          <p:nvPr/>
        </p:nvSpPr>
        <p:spPr>
          <a:xfrm>
            <a:off x="6991960" y="6131052"/>
            <a:ext cx="82296" cy="82296"/>
          </a:xfrm>
          <a:prstGeom prst="ellipse">
            <a:avLst/>
          </a:prstGeom>
          <a:solidFill>
            <a:srgbClr val="2F6F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9" name="Text 103"/>
          <p:cNvSpPr/>
          <p:nvPr/>
        </p:nvSpPr>
        <p:spPr>
          <a:xfrm>
            <a:off x="6530188" y="594360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700" dirty="0"/>
          </a:p>
        </p:txBody>
      </p:sp>
      <p:sp>
        <p:nvSpPr>
          <p:cNvPr id="130" name="Text 104"/>
          <p:cNvSpPr/>
          <p:nvPr/>
        </p:nvSpPr>
        <p:spPr>
          <a:xfrm>
            <a:off x="6438748" y="623620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+ API adoption expands</a:t>
            </a:r>
            <a:endParaRPr lang="en-US" sz="600" dirty="0"/>
          </a:p>
        </p:txBody>
      </p:sp>
      <p:sp>
        <p:nvSpPr>
          <p:cNvPr id="131" name="Shape 105"/>
          <p:cNvSpPr/>
          <p:nvPr/>
        </p:nvSpPr>
        <p:spPr>
          <a:xfrm>
            <a:off x="9228353" y="6131052"/>
            <a:ext cx="82296" cy="82296"/>
          </a:xfrm>
          <a:prstGeom prst="ellipse">
            <a:avLst/>
          </a:prstGeom>
          <a:solidFill>
            <a:srgbClr val="2F6F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2" name="Text 106"/>
          <p:cNvSpPr/>
          <p:nvPr/>
        </p:nvSpPr>
        <p:spPr>
          <a:xfrm>
            <a:off x="8766581" y="594360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700" dirty="0"/>
          </a:p>
        </p:txBody>
      </p:sp>
      <p:sp>
        <p:nvSpPr>
          <p:cNvPr id="133" name="Text 107"/>
          <p:cNvSpPr/>
          <p:nvPr/>
        </p:nvSpPr>
        <p:spPr>
          <a:xfrm>
            <a:off x="8675141" y="623620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footprint expands</a:t>
            </a:r>
            <a:endParaRPr lang="en-US" sz="600" dirty="0"/>
          </a:p>
        </p:txBody>
      </p:sp>
      <p:sp>
        <p:nvSpPr>
          <p:cNvPr id="134" name="Shape 108"/>
          <p:cNvSpPr/>
          <p:nvPr/>
        </p:nvSpPr>
        <p:spPr>
          <a:xfrm>
            <a:off x="11464747" y="6131052"/>
            <a:ext cx="82296" cy="82296"/>
          </a:xfrm>
          <a:prstGeom prst="ellipse">
            <a:avLst/>
          </a:prstGeom>
          <a:solidFill>
            <a:srgbClr val="2F6F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5" name="Text 109"/>
          <p:cNvSpPr/>
          <p:nvPr/>
        </p:nvSpPr>
        <p:spPr>
          <a:xfrm>
            <a:off x="11002975" y="594360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700" dirty="0"/>
          </a:p>
        </p:txBody>
      </p:sp>
      <p:sp>
        <p:nvSpPr>
          <p:cNvPr id="136" name="Text 110"/>
          <p:cNvSpPr/>
          <p:nvPr/>
        </p:nvSpPr>
        <p:spPr>
          <a:xfrm>
            <a:off x="10911535" y="623620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funding round; growth continues</a:t>
            </a:r>
            <a:endParaRPr lang="en-US" sz="600" dirty="0"/>
          </a:p>
        </p:txBody>
      </p:sp>
      <p:sp>
        <p:nvSpPr>
          <p:cNvPr id="137" name="Text 111"/>
          <p:cNvSpPr/>
          <p:nvPr/>
        </p:nvSpPr>
        <p:spPr>
          <a:xfrm>
            <a:off x="411480" y="6620256"/>
            <a:ext cx="113687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first draft — funding, leadership and news signals require human verification before external use.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One-Page Company Profile — Anthropic</dc:title>
  <dc:subject>PptxGenJS Presentation</dc:subject>
  <dc:creator>BriefIQ</dc:creator>
  <cp:lastModifiedBy>BriefIQ</cp:lastModifiedBy>
  <cp:revision>1</cp:revision>
  <dcterms:created xsi:type="dcterms:W3CDTF">2026-07-01T07:54:07Z</dcterms:created>
  <dcterms:modified xsi:type="dcterms:W3CDTF">2026-07-01T07:54:07Z</dcterms:modified>
</cp:coreProperties>
</file>